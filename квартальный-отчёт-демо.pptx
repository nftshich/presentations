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gif" ContentType="image/gif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notesMaster" Target="notesMasters/notesMaster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68580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Представьтесь и назовите цель: показать итоги квартала и решения, которые нужны от руководства.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числа: выручка, маржа, проблемные позиции. Дальше разбираем каждое.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Рост дал объём, а не цена - это важно для планирования следующего квартала.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Половина выручки в одной категории: зависимость от неё и есть главный риск ассортимента.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статьи потерь: реклама, логистика с возвратами, удержания. По каждой есть сумма.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Две позиции: одна в минусе, вторая на грани. Назовите безубыточные цены.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Риски коротко, без нагнетания: возвраты, удержания, тарифы, рекламный бюджет.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План из четырёх шагов со сроками и ответственными.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решения: цена, доступ к детализации, приоритет ассортимента.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Закройте: пересчёт через месяц, сравнение с текущими цифрами.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762000" y="1913930"/>
            <a:ext cx="2321123" cy="254000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</p:spPr>
      </p:sp>
      <p:sp>
        <p:nvSpPr>
          <p:cNvPr id="3" name="Text: Отчёт для руководства · III квартал 2026"/>
          <p:cNvSpPr txBox="1"/>
          <p:nvPr/>
        </p:nvSpPr>
        <p:spPr>
          <a:xfrm>
            <a:off x="876300" y="1952030"/>
            <a:ext cx="2092523" cy="152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spc="32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Отчёт для руководства · III квартал 2026</a:t>
            </a:r>
            <a:endParaRPr lang="en-US" sz="800" dirty="0"/>
          </a:p>
        </p:txBody>
      </p:sp>
      <p:sp>
        <p:nvSpPr>
          <p:cNvPr id="4" name="Text: Рост есть, маржа под давлением"/>
          <p:cNvSpPr txBox="1"/>
          <p:nvPr/>
        </p:nvSpPr>
        <p:spPr>
          <a:xfrm>
            <a:off x="762000" y="2481659"/>
            <a:ext cx="8037810" cy="176014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69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spc="-132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Рост есть, маржа под</a:t>
            </a:r>
            <a:br>
              <a:rPr lang="en-US" sz="6600"/>
            </a:br>
            <a:r>
              <a:rPr lang="en-US" sz="6600" b="1" spc="-132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давлением</a:t>
            </a:r>
            <a:endParaRPr lang="en-US" sz="6600" dirty="0"/>
          </a:p>
        </p:txBody>
      </p:sp>
      <p:sp>
        <p:nvSpPr>
          <p:cNvPr id="5" name="Text: Итоги квартала в цифрах: где выручка выр"/>
          <p:cNvSpPr txBox="1"/>
          <p:nvPr/>
        </p:nvSpPr>
        <p:spPr>
          <a:xfrm>
            <a:off x="762000" y="4315420"/>
            <a:ext cx="8161139" cy="6096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spc="-4"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Итоги квартала в цифрах: где выручка выросла, какие две позиции съедают прибыль и</a:t>
            </a:r>
            <a:br>
              <a:rPr lang="en-US" sz="1600"/>
            </a:br>
            <a:r>
              <a:rPr lang="en-US" sz="1600" spc="-4"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что делать в четвёртом квартале.</a:t>
            </a:r>
            <a:endParaRPr lang="en-US" sz="1600" dirty="0"/>
          </a:p>
        </p:txBody>
      </p:sp>
      <p:sp>
        <p:nvSpPr>
          <p:cNvPr id="6" name="Text: Итоги III квартала 2026"/>
          <p:cNvSpPr txBox="1"/>
          <p:nvPr/>
        </p:nvSpPr>
        <p:spPr>
          <a:xfrm>
            <a:off x="901700" y="6292850"/>
            <a:ext cx="1195784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spc="-4"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Итоги III квартала 2026</a:t>
            </a:r>
            <a:endParaRPr lang="en-US" sz="900" dirty="0"/>
          </a:p>
        </p:txBody>
      </p:sp>
      <p:sp>
        <p:nvSpPr>
          <p:cNvPr id="7" name="Ellipse"/>
          <p:cNvSpPr/>
          <p:nvPr/>
        </p:nvSpPr>
        <p:spPr>
          <a:xfrm>
            <a:off x="762000" y="6359525"/>
            <a:ext cx="63500" cy="6350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</p:sp>
      <p:sp>
        <p:nvSpPr>
          <p:cNvPr id="8" name="Text: 1 / 10"/>
          <p:cNvSpPr txBox="1"/>
          <p:nvPr/>
        </p:nvSpPr>
        <p:spPr>
          <a:xfrm>
            <a:off x="11140976" y="6292850"/>
            <a:ext cx="289024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spc="-4"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762000" y="635000"/>
            <a:ext cx="1159470" cy="254000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</p:spPr>
      </p:sp>
      <p:sp>
        <p:nvSpPr>
          <p:cNvPr id="3" name="Text: Ключевые цифры"/>
          <p:cNvSpPr txBox="1"/>
          <p:nvPr/>
        </p:nvSpPr>
        <p:spPr>
          <a:xfrm>
            <a:off x="876300" y="673100"/>
            <a:ext cx="930870" cy="152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spc="32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Ключевые цифры</a:t>
            </a:r>
            <a:endParaRPr lang="en-US" sz="800" dirty="0"/>
          </a:p>
        </p:txBody>
      </p:sp>
      <p:sp>
        <p:nvSpPr>
          <p:cNvPr id="4" name="Text: Три числа, которые описывают квартал"/>
          <p:cNvSpPr txBox="1"/>
          <p:nvPr/>
        </p:nvSpPr>
        <p:spPr>
          <a:xfrm>
            <a:off x="762000" y="1177290"/>
            <a:ext cx="6491684" cy="391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spc="-42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Три числа, которые описывают квартал</a:t>
            </a:r>
            <a:endParaRPr lang="en-US" sz="2800" dirty="0"/>
          </a:p>
        </p:txBody>
      </p:sp>
      <p:sp>
        <p:nvSpPr>
          <p:cNvPr id="5" name="Rounded Rectangle"/>
          <p:cNvSpPr/>
          <p:nvPr/>
        </p:nvSpPr>
        <p:spPr>
          <a:xfrm>
            <a:off x="765175" y="1791295"/>
            <a:ext cx="3448050" cy="1623020"/>
          </a:xfrm>
          <a:prstGeom prst="roundRect">
            <a:avLst>
              <a:gd name="adj" fmla="val 9194"/>
            </a:avLst>
          </a:prstGeom>
          <a:solidFill>
            <a:srgbClr val="F7F9FC"/>
          </a:solidFill>
          <a:ln w="6350" cap="flat" cmpd="sng" algn="ctr">
            <a:solidFill>
              <a:srgbClr val="E8EAED"/>
            </a:solidFill>
            <a:miter lim="800000"/>
          </a:ln>
        </p:spPr>
      </p:sp>
      <p:sp>
        <p:nvSpPr>
          <p:cNvPr id="6" name="Text: ВЫРУЧКА ЗА КВАРТАЛ"/>
          <p:cNvSpPr txBox="1"/>
          <p:nvPr/>
        </p:nvSpPr>
        <p:spPr>
          <a:xfrm>
            <a:off x="996950" y="2010370"/>
            <a:ext cx="1306612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spc="36"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ВЫРУЧКА ЗА КВАРТАЛ</a:t>
            </a:r>
            <a:endParaRPr lang="en-US" sz="900" dirty="0"/>
          </a:p>
        </p:txBody>
      </p:sp>
      <p:sp>
        <p:nvSpPr>
          <p:cNvPr id="7" name="Text: 862 730 ₽"/>
          <p:cNvSpPr txBox="1"/>
          <p:nvPr/>
        </p:nvSpPr>
        <p:spPr>
          <a:xfrm>
            <a:off x="996950" y="2354540"/>
            <a:ext cx="2557562" cy="6400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5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spc="-144" dirty="0">
                <a:solidFill>
                  <a:srgbClr val="1A73E8"/>
                </a:solidFill>
                <a:latin typeface="Segoe UI"/>
                <a:ea typeface="Segoe UI"/>
                <a:cs typeface="Segoe UI"/>
              </a:rPr>
              <a:t>862 730 ₽</a:t>
            </a:r>
            <a:endParaRPr lang="en-US" sz="4800" dirty="0"/>
          </a:p>
        </p:txBody>
      </p:sp>
      <p:sp>
        <p:nvSpPr>
          <p:cNvPr id="8" name="Text: +12% к прошлому кварталу"/>
          <p:cNvSpPr txBox="1"/>
          <p:nvPr/>
        </p:nvSpPr>
        <p:spPr>
          <a:xfrm>
            <a:off x="996950" y="2981900"/>
            <a:ext cx="1776313" cy="1955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4"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+12% к прошлому кварталу</a:t>
            </a:r>
            <a:endParaRPr lang="en-US" sz="1100" dirty="0"/>
          </a:p>
        </p:txBody>
      </p:sp>
      <p:sp>
        <p:nvSpPr>
          <p:cNvPr id="9" name="Rounded Rectangle"/>
          <p:cNvSpPr/>
          <p:nvPr/>
        </p:nvSpPr>
        <p:spPr>
          <a:xfrm>
            <a:off x="4371975" y="1791295"/>
            <a:ext cx="3448050" cy="1623020"/>
          </a:xfrm>
          <a:prstGeom prst="roundRect">
            <a:avLst>
              <a:gd name="adj" fmla="val 9194"/>
            </a:avLst>
          </a:prstGeom>
          <a:solidFill>
            <a:srgbClr val="F7F9FC"/>
          </a:solidFill>
          <a:ln w="6350" cap="flat" cmpd="sng" algn="ctr">
            <a:solidFill>
              <a:srgbClr val="E8EAED"/>
            </a:solidFill>
            <a:miter lim="800000"/>
          </a:ln>
        </p:spPr>
      </p:sp>
      <p:sp>
        <p:nvSpPr>
          <p:cNvPr id="10" name="Text: МАРЖА"/>
          <p:cNvSpPr txBox="1"/>
          <p:nvPr/>
        </p:nvSpPr>
        <p:spPr>
          <a:xfrm>
            <a:off x="4603750" y="2010370"/>
            <a:ext cx="455017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spc="36"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МАРЖА</a:t>
            </a:r>
            <a:endParaRPr lang="en-US" sz="900" dirty="0"/>
          </a:p>
        </p:txBody>
      </p:sp>
      <p:sp>
        <p:nvSpPr>
          <p:cNvPr id="11" name="Text: 21,6%"/>
          <p:cNvSpPr txBox="1"/>
          <p:nvPr/>
        </p:nvSpPr>
        <p:spPr>
          <a:xfrm>
            <a:off x="4603750" y="2354540"/>
            <a:ext cx="1583234" cy="6400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5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spc="-144" dirty="0">
                <a:solidFill>
                  <a:srgbClr val="EA4335"/>
                </a:solidFill>
                <a:latin typeface="Segoe UI"/>
                <a:ea typeface="Segoe UI"/>
                <a:cs typeface="Segoe UI"/>
              </a:rPr>
              <a:t>21,6%</a:t>
            </a:r>
            <a:endParaRPr lang="en-US" sz="4800" dirty="0"/>
          </a:p>
        </p:txBody>
      </p:sp>
      <p:sp>
        <p:nvSpPr>
          <p:cNvPr id="12" name="Text: Минус 2,1 п.п.: сказались возвраты и рек"/>
          <p:cNvSpPr txBox="1"/>
          <p:nvPr/>
        </p:nvSpPr>
        <p:spPr>
          <a:xfrm>
            <a:off x="4603750" y="2981900"/>
            <a:ext cx="2909193" cy="1955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4"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Минус 2,1 п.п.: сказались возвраты и реклама</a:t>
            </a:r>
            <a:endParaRPr lang="en-US" sz="1100" dirty="0"/>
          </a:p>
        </p:txBody>
      </p:sp>
      <p:sp>
        <p:nvSpPr>
          <p:cNvPr id="13" name="Rounded Rectangle"/>
          <p:cNvSpPr/>
          <p:nvPr/>
        </p:nvSpPr>
        <p:spPr>
          <a:xfrm>
            <a:off x="7978775" y="1791295"/>
            <a:ext cx="3448050" cy="1623020"/>
          </a:xfrm>
          <a:prstGeom prst="roundRect">
            <a:avLst>
              <a:gd name="adj" fmla="val 9194"/>
            </a:avLst>
          </a:prstGeom>
          <a:solidFill>
            <a:srgbClr val="F7F9FC"/>
          </a:solidFill>
          <a:ln w="6350" cap="flat" cmpd="sng" algn="ctr">
            <a:solidFill>
              <a:srgbClr val="E8EAED"/>
            </a:solidFill>
            <a:miter lim="800000"/>
          </a:ln>
        </p:spPr>
      </p:sp>
      <p:sp>
        <p:nvSpPr>
          <p:cNvPr id="14" name="Text: ПРОБЛЕМНЫХ SKU"/>
          <p:cNvSpPr txBox="1"/>
          <p:nvPr/>
        </p:nvSpPr>
        <p:spPr>
          <a:xfrm>
            <a:off x="8210550" y="2010370"/>
            <a:ext cx="1108670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spc="36"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ПРОБЛЕМНЫХ SKU</a:t>
            </a:r>
            <a:endParaRPr lang="en-US" sz="900" dirty="0"/>
          </a:p>
        </p:txBody>
      </p:sp>
      <p:sp>
        <p:nvSpPr>
          <p:cNvPr id="15" name="Text: 2 из 8"/>
          <p:cNvSpPr txBox="1"/>
          <p:nvPr/>
        </p:nvSpPr>
        <p:spPr>
          <a:xfrm>
            <a:off x="8210550" y="2354540"/>
            <a:ext cx="1550690" cy="6400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5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spc="-144" dirty="0">
                <a:solidFill>
                  <a:srgbClr val="FBBC04"/>
                </a:solidFill>
                <a:latin typeface="Segoe UI"/>
                <a:ea typeface="Segoe UI"/>
                <a:cs typeface="Segoe UI"/>
              </a:rPr>
              <a:t>2 из 8</a:t>
            </a:r>
            <a:endParaRPr lang="en-US" sz="4800" dirty="0"/>
          </a:p>
        </p:txBody>
      </p:sp>
      <p:sp>
        <p:nvSpPr>
          <p:cNvPr id="16" name="Text: Один в минусе, один на грани"/>
          <p:cNvSpPr txBox="1"/>
          <p:nvPr/>
        </p:nvSpPr>
        <p:spPr>
          <a:xfrm>
            <a:off x="8210550" y="2981900"/>
            <a:ext cx="1930301" cy="1955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spc="-4"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Один в минусе, один на грани</a:t>
            </a:r>
            <a:endParaRPr lang="en-US" sz="1100" dirty="0"/>
          </a:p>
        </p:txBody>
      </p:sp>
      <p:sp>
        <p:nvSpPr>
          <p:cNvPr id="17" name="Text: Итоги III квартала 2026"/>
          <p:cNvSpPr txBox="1"/>
          <p:nvPr/>
        </p:nvSpPr>
        <p:spPr>
          <a:xfrm>
            <a:off x="901700" y="6292850"/>
            <a:ext cx="1195784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spc="-4"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Итоги III квартала 2026</a:t>
            </a:r>
            <a:endParaRPr lang="en-US" sz="900" dirty="0"/>
          </a:p>
        </p:txBody>
      </p:sp>
      <p:sp>
        <p:nvSpPr>
          <p:cNvPr id="18" name="Ellipse"/>
          <p:cNvSpPr/>
          <p:nvPr/>
        </p:nvSpPr>
        <p:spPr>
          <a:xfrm>
            <a:off x="762000" y="6359525"/>
            <a:ext cx="63500" cy="6350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</p:sp>
      <p:sp>
        <p:nvSpPr>
          <p:cNvPr id="19" name="Text: 2 / 10"/>
          <p:cNvSpPr txBox="1"/>
          <p:nvPr/>
        </p:nvSpPr>
        <p:spPr>
          <a:xfrm>
            <a:off x="11140976" y="6292850"/>
            <a:ext cx="289024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spc="-4"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762000" y="635000"/>
            <a:ext cx="752078" cy="254000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</p:spPr>
      </p:sp>
      <p:sp>
        <p:nvSpPr>
          <p:cNvPr id="3" name="Text: Динамика"/>
          <p:cNvSpPr txBox="1"/>
          <p:nvPr/>
        </p:nvSpPr>
        <p:spPr>
          <a:xfrm>
            <a:off x="876300" y="673100"/>
            <a:ext cx="523478" cy="152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spc="32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Динамика</a:t>
            </a:r>
            <a:endParaRPr lang="en-US" sz="800" dirty="0"/>
          </a:p>
        </p:txBody>
      </p:sp>
      <p:sp>
        <p:nvSpPr>
          <p:cNvPr id="4" name="Text: Выручка растёт третий месяц"/>
          <p:cNvSpPr txBox="1"/>
          <p:nvPr/>
        </p:nvSpPr>
        <p:spPr>
          <a:xfrm>
            <a:off x="762000" y="1177290"/>
            <a:ext cx="4825008" cy="391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spc="-42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Выручка растёт третий месяц</a:t>
            </a:r>
            <a:endParaRPr lang="en-US" sz="2800" dirty="0"/>
          </a:p>
        </p:txBody>
      </p:sp>
      <p:sp>
        <p:nvSpPr>
          <p:cNvPr id="5" name="Text: 248 100 ₽"/>
          <p:cNvSpPr txBox="1"/>
          <p:nvPr/>
        </p:nvSpPr>
        <p:spPr>
          <a:xfrm>
            <a:off x="1042491" y="2918420"/>
            <a:ext cx="708918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248 100 ₽</a:t>
            </a:r>
            <a:endParaRPr lang="en-US" sz="1300" dirty="0"/>
          </a:p>
        </p:txBody>
      </p:sp>
      <p:sp>
        <p:nvSpPr>
          <p:cNvPr id="6" name="Rounded Rectangle"/>
          <p:cNvSpPr/>
          <p:nvPr/>
        </p:nvSpPr>
        <p:spPr>
          <a:xfrm>
            <a:off x="765175" y="3283545"/>
            <a:ext cx="1263650" cy="1771650"/>
          </a:xfrm>
          <a:prstGeom prst="roundRect">
            <a:avLst>
              <a:gd name="adj" fmla="val 9799"/>
            </a:avLst>
          </a:prstGeom>
          <a:solidFill>
            <a:srgbClr val="F7F9FC"/>
          </a:solidFill>
          <a:ln w="6350" cap="flat" cmpd="sng" algn="ctr">
            <a:solidFill>
              <a:srgbClr val="E8EAED"/>
            </a:solidFill>
            <a:miter lim="800000"/>
          </a:ln>
        </p:spPr>
      </p:sp>
      <p:sp>
        <p:nvSpPr>
          <p:cNvPr id="7" name="Text: Июль"/>
          <p:cNvSpPr txBox="1"/>
          <p:nvPr/>
        </p:nvSpPr>
        <p:spPr>
          <a:xfrm>
            <a:off x="1174948" y="5147270"/>
            <a:ext cx="444103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Июль</a:t>
            </a:r>
            <a:endParaRPr lang="en-US" sz="1300" dirty="0"/>
          </a:p>
        </p:txBody>
      </p:sp>
      <p:sp>
        <p:nvSpPr>
          <p:cNvPr id="8" name="Text: 290 900 ₽"/>
          <p:cNvSpPr txBox="1"/>
          <p:nvPr/>
        </p:nvSpPr>
        <p:spPr>
          <a:xfrm>
            <a:off x="2820491" y="2613620"/>
            <a:ext cx="708918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290 900 ₽</a:t>
            </a:r>
            <a:endParaRPr lang="en-US" sz="1300" dirty="0"/>
          </a:p>
        </p:txBody>
      </p:sp>
      <p:sp>
        <p:nvSpPr>
          <p:cNvPr id="9" name="Rounded Rectangle"/>
          <p:cNvSpPr/>
          <p:nvPr/>
        </p:nvSpPr>
        <p:spPr>
          <a:xfrm>
            <a:off x="2543175" y="2978745"/>
            <a:ext cx="1263650" cy="2076450"/>
          </a:xfrm>
          <a:prstGeom prst="roundRect">
            <a:avLst>
              <a:gd name="adj" fmla="val 9799"/>
            </a:avLst>
          </a:prstGeom>
          <a:solidFill>
            <a:srgbClr val="F7F9FC"/>
          </a:solidFill>
          <a:ln w="6350" cap="flat" cmpd="sng" algn="ctr">
            <a:solidFill>
              <a:srgbClr val="E8EAED"/>
            </a:solidFill>
            <a:miter lim="800000"/>
          </a:ln>
        </p:spPr>
      </p:sp>
      <p:sp>
        <p:nvSpPr>
          <p:cNvPr id="10" name="Text: Август"/>
          <p:cNvSpPr txBox="1"/>
          <p:nvPr/>
        </p:nvSpPr>
        <p:spPr>
          <a:xfrm>
            <a:off x="2926953" y="5147270"/>
            <a:ext cx="496094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Август</a:t>
            </a:r>
            <a:endParaRPr lang="en-US" sz="1300" dirty="0"/>
          </a:p>
        </p:txBody>
      </p:sp>
      <p:sp>
        <p:nvSpPr>
          <p:cNvPr id="11" name="Text: 323 730 ₽"/>
          <p:cNvSpPr txBox="1"/>
          <p:nvPr/>
        </p:nvSpPr>
        <p:spPr>
          <a:xfrm>
            <a:off x="4586585" y="2385020"/>
            <a:ext cx="732730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spc="-4" dirty="0">
                <a:solidFill>
                  <a:srgbClr val="1A73E8"/>
                </a:solidFill>
                <a:latin typeface="Segoe UI"/>
                <a:ea typeface="Segoe UI"/>
                <a:cs typeface="Segoe UI"/>
              </a:rPr>
              <a:t>323 730 ₽</a:t>
            </a:r>
            <a:endParaRPr lang="en-US" sz="1300" dirty="0"/>
          </a:p>
        </p:txBody>
      </p:sp>
      <p:sp>
        <p:nvSpPr>
          <p:cNvPr id="12" name="Rounded Rectangle"/>
          <p:cNvSpPr/>
          <p:nvPr/>
        </p:nvSpPr>
        <p:spPr>
          <a:xfrm>
            <a:off x="4318000" y="2746970"/>
            <a:ext cx="1270000" cy="2311400"/>
          </a:xfrm>
          <a:prstGeom prst="roundRect">
            <a:avLst>
              <a:gd name="adj" fmla="val 10000"/>
            </a:avLst>
          </a:prstGeom>
          <a:solidFill>
            <a:srgbClr val="1A73E8"/>
          </a:solidFill>
          <a:ln>
            <a:noFill/>
          </a:ln>
        </p:spPr>
      </p:sp>
      <p:sp>
        <p:nvSpPr>
          <p:cNvPr id="13" name="Text: Сентябрь"/>
          <p:cNvSpPr txBox="1"/>
          <p:nvPr/>
        </p:nvSpPr>
        <p:spPr>
          <a:xfrm>
            <a:off x="4590058" y="5147270"/>
            <a:ext cx="725785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spc="-4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Сентябрь</a:t>
            </a:r>
            <a:endParaRPr lang="en-US" sz="1300" dirty="0"/>
          </a:p>
        </p:txBody>
      </p:sp>
      <p:sp>
        <p:nvSpPr>
          <p:cNvPr id="14" name="Text: Рост дал объём продаж, а не цена: средни"/>
          <p:cNvSpPr txBox="1"/>
          <p:nvPr/>
        </p:nvSpPr>
        <p:spPr>
          <a:xfrm>
            <a:off x="762000" y="5650825"/>
            <a:ext cx="5107980" cy="23939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Рост дал объём продаж, а не цена: средний чек вырос всего на 2%.</a:t>
            </a:r>
            <a:endParaRPr lang="en-US" sz="1300" dirty="0"/>
          </a:p>
        </p:txBody>
      </p:sp>
      <p:sp>
        <p:nvSpPr>
          <p:cNvPr id="15" name="Text: Итоги III квартала 2026"/>
          <p:cNvSpPr txBox="1"/>
          <p:nvPr/>
        </p:nvSpPr>
        <p:spPr>
          <a:xfrm>
            <a:off x="901700" y="6292850"/>
            <a:ext cx="1195784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spc="-4"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Итоги III квартала 2026</a:t>
            </a:r>
            <a:endParaRPr lang="en-US" sz="900" dirty="0"/>
          </a:p>
        </p:txBody>
      </p:sp>
      <p:sp>
        <p:nvSpPr>
          <p:cNvPr id="16" name="Ellipse"/>
          <p:cNvSpPr/>
          <p:nvPr/>
        </p:nvSpPr>
        <p:spPr>
          <a:xfrm>
            <a:off x="762000" y="6359525"/>
            <a:ext cx="63500" cy="6350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</p:sp>
      <p:sp>
        <p:nvSpPr>
          <p:cNvPr id="17" name="Text: 3 / 10"/>
          <p:cNvSpPr txBox="1"/>
          <p:nvPr/>
        </p:nvSpPr>
        <p:spPr>
          <a:xfrm>
            <a:off x="11140976" y="6292850"/>
            <a:ext cx="289024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spc="-4"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762000" y="635000"/>
            <a:ext cx="1226641" cy="254000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</p:spPr>
      </p:sp>
      <p:sp>
        <p:nvSpPr>
          <p:cNvPr id="3" name="Text: Структура выручки"/>
          <p:cNvSpPr txBox="1"/>
          <p:nvPr/>
        </p:nvSpPr>
        <p:spPr>
          <a:xfrm>
            <a:off x="876300" y="673100"/>
            <a:ext cx="998041" cy="152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spc="32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Структура выручки</a:t>
            </a:r>
            <a:endParaRPr lang="en-US" sz="800" dirty="0"/>
          </a:p>
        </p:txBody>
      </p:sp>
      <p:sp>
        <p:nvSpPr>
          <p:cNvPr id="4" name="Text: Половину выручки даёт одна категория"/>
          <p:cNvSpPr txBox="1"/>
          <p:nvPr/>
        </p:nvSpPr>
        <p:spPr>
          <a:xfrm>
            <a:off x="762000" y="1151890"/>
            <a:ext cx="6572746" cy="391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spc="-42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Половину выручки даёт одна категория</a:t>
            </a:r>
            <a:endParaRPr lang="en-US" sz="2800" dirty="0"/>
          </a:p>
        </p:txBody>
      </p:sp>
      <p:sp>
        <p:nvSpPr>
          <p:cNvPr id="5" name="Text: Хранение и порядок"/>
          <p:cNvSpPr txBox="1"/>
          <p:nvPr/>
        </p:nvSpPr>
        <p:spPr>
          <a:xfrm>
            <a:off x="762000" y="1775420"/>
            <a:ext cx="1602284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Хранение и порядок</a:t>
            </a:r>
            <a:endParaRPr lang="en-US" sz="1300" dirty="0"/>
          </a:p>
        </p:txBody>
      </p:sp>
      <p:sp>
        <p:nvSpPr>
          <p:cNvPr id="6" name="Text: 397 000 ₽ · 46%"/>
          <p:cNvSpPr txBox="1"/>
          <p:nvPr/>
        </p:nvSpPr>
        <p:spPr>
          <a:xfrm>
            <a:off x="10284619" y="1775420"/>
            <a:ext cx="1145381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397 000 ₽ · 46%</a:t>
            </a:r>
            <a:endParaRPr lang="en-US" sz="1300" dirty="0"/>
          </a:p>
        </p:txBody>
      </p:sp>
      <p:sp>
        <p:nvSpPr>
          <p:cNvPr id="7" name="Rounded Rectangle"/>
          <p:cNvSpPr/>
          <p:nvPr/>
        </p:nvSpPr>
        <p:spPr>
          <a:xfrm>
            <a:off x="765175" y="2127845"/>
            <a:ext cx="10661650" cy="133350"/>
          </a:xfrm>
          <a:prstGeom prst="roundRect">
            <a:avLst>
              <a:gd name="adj" fmla="val 50000"/>
            </a:avLst>
          </a:prstGeom>
          <a:solidFill>
            <a:srgbClr val="F7F9FC"/>
          </a:solidFill>
          <a:ln w="6350" cap="flat" cmpd="sng" algn="ctr">
            <a:solidFill>
              <a:srgbClr val="E8EAED"/>
            </a:solidFill>
            <a:miter lim="800000"/>
          </a:ln>
        </p:spPr>
      </p:sp>
      <p:sp>
        <p:nvSpPr>
          <p:cNvPr id="8" name="Rounded Rectangle"/>
          <p:cNvSpPr/>
          <p:nvPr/>
        </p:nvSpPr>
        <p:spPr>
          <a:xfrm>
            <a:off x="768350" y="2131020"/>
            <a:ext cx="4901406" cy="127000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</p:spPr>
      </p:sp>
      <p:sp>
        <p:nvSpPr>
          <p:cNvPr id="9" name="Text: Кухня"/>
          <p:cNvSpPr txBox="1"/>
          <p:nvPr/>
        </p:nvSpPr>
        <p:spPr>
          <a:xfrm>
            <a:off x="762000" y="2454870"/>
            <a:ext cx="443905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Кухня</a:t>
            </a:r>
            <a:endParaRPr lang="en-US" sz="1300" dirty="0"/>
          </a:p>
        </p:txBody>
      </p:sp>
      <p:sp>
        <p:nvSpPr>
          <p:cNvPr id="10" name="Text: 242 000 ₽ · 28%"/>
          <p:cNvSpPr txBox="1"/>
          <p:nvPr/>
        </p:nvSpPr>
        <p:spPr>
          <a:xfrm>
            <a:off x="10284619" y="2454870"/>
            <a:ext cx="1145381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242 000 ₽ · 28%</a:t>
            </a:r>
            <a:endParaRPr lang="en-US" sz="1300" dirty="0"/>
          </a:p>
        </p:txBody>
      </p:sp>
      <p:sp>
        <p:nvSpPr>
          <p:cNvPr id="11" name="Rounded Rectangle"/>
          <p:cNvSpPr/>
          <p:nvPr/>
        </p:nvSpPr>
        <p:spPr>
          <a:xfrm>
            <a:off x="765175" y="2807295"/>
            <a:ext cx="10661650" cy="133350"/>
          </a:xfrm>
          <a:prstGeom prst="roundRect">
            <a:avLst>
              <a:gd name="adj" fmla="val 50000"/>
            </a:avLst>
          </a:prstGeom>
          <a:solidFill>
            <a:srgbClr val="F7F9FC"/>
          </a:solidFill>
          <a:ln w="6350" cap="flat" cmpd="sng" algn="ctr">
            <a:solidFill>
              <a:srgbClr val="E8EAED"/>
            </a:solidFill>
            <a:miter lim="800000"/>
          </a:ln>
        </p:spPr>
      </p:sp>
      <p:sp>
        <p:nvSpPr>
          <p:cNvPr id="12" name="Rounded Rectangle"/>
          <p:cNvSpPr/>
          <p:nvPr/>
        </p:nvSpPr>
        <p:spPr>
          <a:xfrm>
            <a:off x="768350" y="2810470"/>
            <a:ext cx="2983409" cy="12700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</p:sp>
      <p:sp>
        <p:nvSpPr>
          <p:cNvPr id="13" name="Text: Текстиль"/>
          <p:cNvSpPr txBox="1"/>
          <p:nvPr/>
        </p:nvSpPr>
        <p:spPr>
          <a:xfrm>
            <a:off x="762000" y="3134320"/>
            <a:ext cx="670917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Текстиль</a:t>
            </a:r>
            <a:endParaRPr lang="en-US" sz="1300" dirty="0"/>
          </a:p>
        </p:txBody>
      </p:sp>
      <p:sp>
        <p:nvSpPr>
          <p:cNvPr id="14" name="Text: 155 000 ₽ · 18%"/>
          <p:cNvSpPr txBox="1"/>
          <p:nvPr/>
        </p:nvSpPr>
        <p:spPr>
          <a:xfrm>
            <a:off x="10284619" y="3134320"/>
            <a:ext cx="1145381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155 000 ₽ · 18%</a:t>
            </a:r>
            <a:endParaRPr lang="en-US" sz="1300" dirty="0"/>
          </a:p>
        </p:txBody>
      </p:sp>
      <p:sp>
        <p:nvSpPr>
          <p:cNvPr id="15" name="Rounded Rectangle"/>
          <p:cNvSpPr/>
          <p:nvPr/>
        </p:nvSpPr>
        <p:spPr>
          <a:xfrm>
            <a:off x="765175" y="3486745"/>
            <a:ext cx="10661650" cy="133350"/>
          </a:xfrm>
          <a:prstGeom prst="roundRect">
            <a:avLst>
              <a:gd name="adj" fmla="val 50000"/>
            </a:avLst>
          </a:prstGeom>
          <a:solidFill>
            <a:srgbClr val="F7F9FC"/>
          </a:solidFill>
          <a:ln w="6350" cap="flat" cmpd="sng" algn="ctr">
            <a:solidFill>
              <a:srgbClr val="E8EAED"/>
            </a:solidFill>
            <a:miter lim="800000"/>
          </a:ln>
        </p:spPr>
      </p:sp>
      <p:sp>
        <p:nvSpPr>
          <p:cNvPr id="16" name="Rounded Rectangle"/>
          <p:cNvSpPr/>
          <p:nvPr/>
        </p:nvSpPr>
        <p:spPr>
          <a:xfrm>
            <a:off x="768350" y="3489920"/>
            <a:ext cx="1917898" cy="127000"/>
          </a:xfrm>
          <a:prstGeom prst="roundRect">
            <a:avLst>
              <a:gd name="adj" fmla="val 50000"/>
            </a:avLst>
          </a:prstGeom>
          <a:solidFill>
            <a:srgbClr val="FBBC04"/>
          </a:solidFill>
          <a:ln>
            <a:noFill/>
          </a:ln>
        </p:spPr>
      </p:sp>
      <p:sp>
        <p:nvSpPr>
          <p:cNvPr id="17" name="Text: Прочее"/>
          <p:cNvSpPr txBox="1"/>
          <p:nvPr/>
        </p:nvSpPr>
        <p:spPr>
          <a:xfrm>
            <a:off x="762000" y="3813770"/>
            <a:ext cx="587970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Прочее</a:t>
            </a:r>
            <a:endParaRPr lang="en-US" sz="1300" dirty="0"/>
          </a:p>
        </p:txBody>
      </p:sp>
      <p:sp>
        <p:nvSpPr>
          <p:cNvPr id="18" name="Text: 69 000 ₽ · 8%"/>
          <p:cNvSpPr txBox="1"/>
          <p:nvPr/>
        </p:nvSpPr>
        <p:spPr>
          <a:xfrm>
            <a:off x="10461625" y="3813770"/>
            <a:ext cx="968375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spc="-4"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69 000 ₽ · 8%</a:t>
            </a:r>
            <a:endParaRPr lang="en-US" sz="1300" dirty="0"/>
          </a:p>
        </p:txBody>
      </p:sp>
      <p:sp>
        <p:nvSpPr>
          <p:cNvPr id="19" name="Rounded Rectangle"/>
          <p:cNvSpPr/>
          <p:nvPr/>
        </p:nvSpPr>
        <p:spPr>
          <a:xfrm>
            <a:off x="765175" y="4166195"/>
            <a:ext cx="10661650" cy="133350"/>
          </a:xfrm>
          <a:prstGeom prst="roundRect">
            <a:avLst>
              <a:gd name="adj" fmla="val 50000"/>
            </a:avLst>
          </a:prstGeom>
          <a:solidFill>
            <a:srgbClr val="F7F9FC"/>
          </a:solidFill>
          <a:ln w="6350" cap="flat" cmpd="sng" algn="ctr">
            <a:solidFill>
              <a:srgbClr val="E8EAED"/>
            </a:solidFill>
            <a:miter lim="800000"/>
          </a:ln>
        </p:spPr>
      </p:sp>
      <p:sp>
        <p:nvSpPr>
          <p:cNvPr id="20" name="Rounded Rectangle"/>
          <p:cNvSpPr/>
          <p:nvPr/>
        </p:nvSpPr>
        <p:spPr>
          <a:xfrm>
            <a:off x="768350" y="4169370"/>
            <a:ext cx="852388" cy="127000"/>
          </a:xfrm>
          <a:prstGeom prst="roundRect">
            <a:avLst>
              <a:gd name="adj" fmla="val 50000"/>
            </a:avLst>
          </a:prstGeom>
          <a:solidFill>
            <a:srgbClr val="5F6368"/>
          </a:solidFill>
          <a:ln>
            <a:noFill/>
          </a:ln>
        </p:spPr>
      </p:sp>
      <p:sp>
        <p:nvSpPr>
          <p:cNvPr id="21" name="Text: Итоги III квартала 2026"/>
          <p:cNvSpPr txBox="1"/>
          <p:nvPr/>
        </p:nvSpPr>
        <p:spPr>
          <a:xfrm>
            <a:off x="901700" y="6292850"/>
            <a:ext cx="1195784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spc="-4"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Итоги III квартала 2026</a:t>
            </a:r>
            <a:endParaRPr lang="en-US" sz="900" dirty="0"/>
          </a:p>
        </p:txBody>
      </p:sp>
      <p:sp>
        <p:nvSpPr>
          <p:cNvPr id="22" name="Ellipse"/>
          <p:cNvSpPr/>
          <p:nvPr/>
        </p:nvSpPr>
        <p:spPr>
          <a:xfrm>
            <a:off x="762000" y="6359525"/>
            <a:ext cx="63500" cy="6350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</p:sp>
      <p:sp>
        <p:nvSpPr>
          <p:cNvPr id="23" name="Text: 4 / 10"/>
          <p:cNvSpPr txBox="1"/>
          <p:nvPr/>
        </p:nvSpPr>
        <p:spPr>
          <a:xfrm>
            <a:off x="11140976" y="6292850"/>
            <a:ext cx="289024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spc="-4"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762000" y="635000"/>
            <a:ext cx="1287463" cy="25400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</p:sp>
      <p:sp>
        <p:nvSpPr>
          <p:cNvPr id="3" name="Text: Где теряются деньги"/>
          <p:cNvSpPr txBox="1"/>
          <p:nvPr/>
        </p:nvSpPr>
        <p:spPr>
          <a:xfrm>
            <a:off x="876300" y="673100"/>
            <a:ext cx="1058863" cy="152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spc="32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Где теряются деньги</a:t>
            </a:r>
            <a:endParaRPr lang="en-US" sz="800" dirty="0"/>
          </a:p>
        </p:txBody>
      </p:sp>
      <p:sp>
        <p:nvSpPr>
          <p:cNvPr id="4" name="Text: Три статьи, которые забирают маржу"/>
          <p:cNvSpPr txBox="1"/>
          <p:nvPr/>
        </p:nvSpPr>
        <p:spPr>
          <a:xfrm>
            <a:off x="762000" y="1126490"/>
            <a:ext cx="6107013" cy="391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spc="-42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Три статьи, которые забирают маржу</a:t>
            </a:r>
            <a:endParaRPr lang="en-US" sz="2800" dirty="0"/>
          </a:p>
        </p:txBody>
      </p:sp>
      <p:sp>
        <p:nvSpPr>
          <p:cNvPr id="5" name="Rounded Rectangle"/>
          <p:cNvSpPr/>
          <p:nvPr/>
        </p:nvSpPr>
        <p:spPr>
          <a:xfrm>
            <a:off x="765175" y="1740495"/>
            <a:ext cx="10661650" cy="970260"/>
          </a:xfrm>
          <a:prstGeom prst="roundRect">
            <a:avLst>
              <a:gd name="adj" fmla="val 15380"/>
            </a:avLst>
          </a:prstGeom>
          <a:solidFill>
            <a:srgbClr val="F7F9FC"/>
          </a:solidFill>
          <a:ln w="6350" cap="flat" cmpd="sng" algn="ctr">
            <a:solidFill>
              <a:srgbClr val="E8EAED"/>
            </a:solidFill>
            <a:miter lim="800000"/>
          </a:ln>
        </p:spPr>
      </p:sp>
      <p:sp>
        <p:nvSpPr>
          <p:cNvPr id="6" name="Text: 47 100 ₽"/>
          <p:cNvSpPr txBox="1"/>
          <p:nvPr/>
        </p:nvSpPr>
        <p:spPr>
          <a:xfrm>
            <a:off x="971550" y="1921470"/>
            <a:ext cx="952599" cy="3810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spc="-40" dirty="0">
                <a:solidFill>
                  <a:srgbClr val="EA4335"/>
                </a:solidFill>
                <a:latin typeface="Segoe UI"/>
                <a:ea typeface="Segoe UI"/>
                <a:cs typeface="Segoe UI"/>
              </a:rPr>
              <a:t>47 100 ₽</a:t>
            </a:r>
            <a:endParaRPr lang="en-US" sz="2000" dirty="0"/>
          </a:p>
        </p:txBody>
      </p:sp>
      <p:sp>
        <p:nvSpPr>
          <p:cNvPr id="7" name="Text: Реклама выше нормы"/>
          <p:cNvSpPr txBox="1"/>
          <p:nvPr/>
        </p:nvSpPr>
        <p:spPr>
          <a:xfrm>
            <a:off x="3079750" y="1927820"/>
            <a:ext cx="1985070" cy="2857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spc="-4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Реклама выше нормы</a:t>
            </a:r>
            <a:endParaRPr lang="en-US" sz="1500" dirty="0"/>
          </a:p>
        </p:txBody>
      </p:sp>
      <p:sp>
        <p:nvSpPr>
          <p:cNvPr id="8" name="Text: Это 5,5% выручки при норме 4%. Половина "/>
          <p:cNvSpPr txBox="1"/>
          <p:nvPr/>
        </p:nvSpPr>
        <p:spPr>
          <a:xfrm>
            <a:off x="3079750" y="2271990"/>
            <a:ext cx="6918722" cy="2209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-4"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Это 5,5% выручки при норме 4%. Половина бюджета ушла на позицию, которая работает в минус.</a:t>
            </a:r>
            <a:endParaRPr lang="en-US" sz="1200" dirty="0"/>
          </a:p>
        </p:txBody>
      </p:sp>
      <p:sp>
        <p:nvSpPr>
          <p:cNvPr id="9" name="Rounded Rectangle"/>
          <p:cNvSpPr/>
          <p:nvPr/>
        </p:nvSpPr>
        <p:spPr>
          <a:xfrm>
            <a:off x="765175" y="2869505"/>
            <a:ext cx="10661650" cy="970260"/>
          </a:xfrm>
          <a:prstGeom prst="roundRect">
            <a:avLst>
              <a:gd name="adj" fmla="val 15380"/>
            </a:avLst>
          </a:prstGeom>
          <a:solidFill>
            <a:srgbClr val="F7F9FC"/>
          </a:solidFill>
          <a:ln w="6350" cap="flat" cmpd="sng" algn="ctr">
            <a:solidFill>
              <a:srgbClr val="E8EAED"/>
            </a:solidFill>
            <a:miter lim="800000"/>
          </a:ln>
        </p:spPr>
      </p:sp>
      <p:sp>
        <p:nvSpPr>
          <p:cNvPr id="10" name="Text: 57 294 ₽"/>
          <p:cNvSpPr txBox="1"/>
          <p:nvPr/>
        </p:nvSpPr>
        <p:spPr>
          <a:xfrm>
            <a:off x="971550" y="3050480"/>
            <a:ext cx="952599" cy="3810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spc="-40" dirty="0">
                <a:solidFill>
                  <a:srgbClr val="EA4335"/>
                </a:solidFill>
                <a:latin typeface="Segoe UI"/>
                <a:ea typeface="Segoe UI"/>
                <a:cs typeface="Segoe UI"/>
              </a:rPr>
              <a:t>57 294 ₽</a:t>
            </a:r>
            <a:endParaRPr lang="en-US" sz="2000" dirty="0"/>
          </a:p>
        </p:txBody>
      </p:sp>
      <p:sp>
        <p:nvSpPr>
          <p:cNvPr id="11" name="Text: Логистика и возвраты"/>
          <p:cNvSpPr txBox="1"/>
          <p:nvPr/>
        </p:nvSpPr>
        <p:spPr>
          <a:xfrm>
            <a:off x="3079750" y="3056830"/>
            <a:ext cx="1981994" cy="2857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spc="-4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Логистика и возвраты</a:t>
            </a:r>
            <a:endParaRPr lang="en-US" sz="1500" dirty="0"/>
          </a:p>
        </p:txBody>
      </p:sp>
      <p:sp>
        <p:nvSpPr>
          <p:cNvPr id="12" name="Text: 6,6% выручки. За каждый возврат платится"/>
          <p:cNvSpPr txBox="1"/>
          <p:nvPr/>
        </p:nvSpPr>
        <p:spPr>
          <a:xfrm>
            <a:off x="3079750" y="3401000"/>
            <a:ext cx="5876627" cy="2209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-4"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6,6% выручки. За каждый возврат платится вторая доставка: 54 возврата за квартал.</a:t>
            </a:r>
            <a:endParaRPr lang="en-US" sz="1200" dirty="0"/>
          </a:p>
        </p:txBody>
      </p:sp>
      <p:sp>
        <p:nvSpPr>
          <p:cNvPr id="13" name="Rounded Rectangle"/>
          <p:cNvSpPr/>
          <p:nvPr/>
        </p:nvSpPr>
        <p:spPr>
          <a:xfrm>
            <a:off x="765175" y="3998516"/>
            <a:ext cx="10661650" cy="970260"/>
          </a:xfrm>
          <a:prstGeom prst="roundRect">
            <a:avLst>
              <a:gd name="adj" fmla="val 15380"/>
            </a:avLst>
          </a:prstGeom>
          <a:solidFill>
            <a:srgbClr val="F7F9FC"/>
          </a:solidFill>
          <a:ln w="6350" cap="flat" cmpd="sng" algn="ctr">
            <a:solidFill>
              <a:srgbClr val="E8EAED"/>
            </a:solidFill>
            <a:miter lim="800000"/>
          </a:ln>
        </p:spPr>
      </p:sp>
      <p:sp>
        <p:nvSpPr>
          <p:cNvPr id="14" name="Text: 6 000 ₽"/>
          <p:cNvSpPr txBox="1"/>
          <p:nvPr/>
        </p:nvSpPr>
        <p:spPr>
          <a:xfrm>
            <a:off x="971550" y="4179491"/>
            <a:ext cx="816670" cy="3810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spc="-40" dirty="0">
                <a:solidFill>
                  <a:srgbClr val="EA4335"/>
                </a:solidFill>
                <a:latin typeface="Segoe UI"/>
                <a:ea typeface="Segoe UI"/>
                <a:cs typeface="Segoe UI"/>
              </a:rPr>
              <a:t>6 000 ₽</a:t>
            </a:r>
            <a:endParaRPr lang="en-US" sz="2000" dirty="0"/>
          </a:p>
        </p:txBody>
      </p:sp>
      <p:sp>
        <p:nvSpPr>
          <p:cNvPr id="15" name="Text: Штрафы и удержания"/>
          <p:cNvSpPr txBox="1"/>
          <p:nvPr/>
        </p:nvSpPr>
        <p:spPr>
          <a:xfrm>
            <a:off x="3079750" y="4185841"/>
            <a:ext cx="1963341" cy="2857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spc="-4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Штрафы и удержания</a:t>
            </a:r>
            <a:endParaRPr lang="en-US" sz="1500" dirty="0"/>
          </a:p>
        </p:txBody>
      </p:sp>
      <p:sp>
        <p:nvSpPr>
          <p:cNvPr id="16" name="Text: У трёх позиций, без расшифровки от площа"/>
          <p:cNvSpPr txBox="1"/>
          <p:nvPr/>
        </p:nvSpPr>
        <p:spPr>
          <a:xfrm>
            <a:off x="3079750" y="4530011"/>
            <a:ext cx="6464399" cy="2209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-4"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У трёх позиций, без расшифровки от площадки. Нужна детализация, чтобы понять причину.</a:t>
            </a:r>
            <a:endParaRPr lang="en-US" sz="1200" dirty="0"/>
          </a:p>
        </p:txBody>
      </p:sp>
      <p:sp>
        <p:nvSpPr>
          <p:cNvPr id="17" name="Text: Итоги III квартала 2026"/>
          <p:cNvSpPr txBox="1"/>
          <p:nvPr/>
        </p:nvSpPr>
        <p:spPr>
          <a:xfrm>
            <a:off x="901700" y="6292850"/>
            <a:ext cx="1195784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spc="-4"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Итоги III квартала 2026</a:t>
            </a:r>
            <a:endParaRPr lang="en-US" sz="900" dirty="0"/>
          </a:p>
        </p:txBody>
      </p:sp>
      <p:sp>
        <p:nvSpPr>
          <p:cNvPr id="18" name="Ellipse"/>
          <p:cNvSpPr/>
          <p:nvPr/>
        </p:nvSpPr>
        <p:spPr>
          <a:xfrm>
            <a:off x="762000" y="6359525"/>
            <a:ext cx="63500" cy="6350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</p:sp>
      <p:sp>
        <p:nvSpPr>
          <p:cNvPr id="19" name="Text: 5 / 10"/>
          <p:cNvSpPr txBox="1"/>
          <p:nvPr/>
        </p:nvSpPr>
        <p:spPr>
          <a:xfrm>
            <a:off x="11140976" y="6292850"/>
            <a:ext cx="289024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spc="-4"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762000" y="635000"/>
            <a:ext cx="1378049" cy="25400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</p:spPr>
      </p:sp>
      <p:sp>
        <p:nvSpPr>
          <p:cNvPr id="3" name="Text: Проблемные позиции"/>
          <p:cNvSpPr txBox="1"/>
          <p:nvPr/>
        </p:nvSpPr>
        <p:spPr>
          <a:xfrm>
            <a:off x="876300" y="673100"/>
            <a:ext cx="1149449" cy="152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spc="32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Проблемные позиции</a:t>
            </a:r>
            <a:endParaRPr lang="en-US" sz="800" dirty="0"/>
          </a:p>
        </p:txBody>
      </p:sp>
      <p:sp>
        <p:nvSpPr>
          <p:cNvPr id="4" name="Text: Две позиции съедают часть прибыли кварта"/>
          <p:cNvSpPr txBox="1"/>
          <p:nvPr/>
        </p:nvSpPr>
        <p:spPr>
          <a:xfrm>
            <a:off x="762000" y="1126490"/>
            <a:ext cx="7707412" cy="391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spc="-42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Две позиции съедают часть прибыли квартала</a:t>
            </a:r>
            <a:endParaRPr lang="en-US" sz="2800" dirty="0"/>
          </a:p>
        </p:txBody>
      </p:sp>
      <p:sp>
        <p:nvSpPr>
          <p:cNvPr id="5" name="Rounded Rectangle"/>
          <p:cNvSpPr/>
          <p:nvPr/>
        </p:nvSpPr>
        <p:spPr>
          <a:xfrm>
            <a:off x="765175" y="1740495"/>
            <a:ext cx="5251450" cy="1565771"/>
          </a:xfrm>
          <a:prstGeom prst="roundRect">
            <a:avLst>
              <a:gd name="adj" fmla="val 9530"/>
            </a:avLst>
          </a:prstGeom>
          <a:solidFill>
            <a:srgbClr val="F7F9FC"/>
          </a:solidFill>
          <a:ln w="6350" cap="flat" cmpd="sng" algn="ctr">
            <a:solidFill>
              <a:srgbClr val="E8EAED"/>
            </a:solidFill>
            <a:miter lim="800000"/>
          </a:ln>
        </p:spPr>
      </p:sp>
      <p:sp>
        <p:nvSpPr>
          <p:cNvPr id="6" name="Text: Минус 2 793 ₽ за квартал"/>
          <p:cNvSpPr txBox="1"/>
          <p:nvPr/>
        </p:nvSpPr>
        <p:spPr>
          <a:xfrm>
            <a:off x="971550" y="1971000"/>
            <a:ext cx="1809849" cy="1981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spc="-4" dirty="0">
                <a:solidFill>
                  <a:srgbClr val="EA4335"/>
                </a:solidFill>
                <a:latin typeface="Segoe UI"/>
                <a:ea typeface="Segoe UI"/>
                <a:cs typeface="Segoe UI"/>
              </a:rPr>
              <a:t>Минус 2 793 ₽ за квартал</a:t>
            </a:r>
            <a:endParaRPr lang="en-US" sz="1200" dirty="0"/>
          </a:p>
        </p:txBody>
      </p:sp>
      <p:sp>
        <p:nvSpPr>
          <p:cNvPr id="7" name="Text: POLK-08 · Полка настенная"/>
          <p:cNvSpPr txBox="1"/>
          <p:nvPr/>
        </p:nvSpPr>
        <p:spPr>
          <a:xfrm>
            <a:off x="971550" y="2285881"/>
            <a:ext cx="2735659" cy="2590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spc="-4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POLK-08 · Полка настенная</a:t>
            </a:r>
            <a:endParaRPr lang="en-US" sz="1700" dirty="0"/>
          </a:p>
        </p:txBody>
      </p:sp>
      <p:sp>
        <p:nvSpPr>
          <p:cNvPr id="8" name="Text: Реклама 8 100 ₽ при выручке 62 650 ₽ (13"/>
          <p:cNvSpPr txBox="1"/>
          <p:nvPr/>
        </p:nvSpPr>
        <p:spPr>
          <a:xfrm>
            <a:off x="971550" y="2621161"/>
            <a:ext cx="4791571" cy="4419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-4"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Реклама 8 100 ₽ при выручке 62 650 ₽ (13% ДРР), 10 возвратов из 45</a:t>
            </a:r>
            <a:br>
              <a:rPr lang="en-US" sz="1200"/>
            </a:br>
            <a:r>
              <a:rPr lang="en-US" sz="1200" spc="-4"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продаж. Безубыточная цена - 1 896 ₽ вместо 1 790 ₽.</a:t>
            </a:r>
            <a:endParaRPr lang="en-US" sz="1200" dirty="0"/>
          </a:p>
        </p:txBody>
      </p:sp>
      <p:sp>
        <p:nvSpPr>
          <p:cNvPr id="9" name="Rounded Rectangle"/>
          <p:cNvSpPr/>
          <p:nvPr/>
        </p:nvSpPr>
        <p:spPr>
          <a:xfrm>
            <a:off x="6175375" y="1740495"/>
            <a:ext cx="5251450" cy="1565771"/>
          </a:xfrm>
          <a:prstGeom prst="roundRect">
            <a:avLst>
              <a:gd name="adj" fmla="val 9530"/>
            </a:avLst>
          </a:prstGeom>
          <a:solidFill>
            <a:srgbClr val="F7F9FC"/>
          </a:solidFill>
          <a:ln w="6350" cap="flat" cmpd="sng" algn="ctr">
            <a:solidFill>
              <a:srgbClr val="E8EAED"/>
            </a:solidFill>
            <a:miter lim="800000"/>
          </a:ln>
        </p:spPr>
      </p:sp>
      <p:sp>
        <p:nvSpPr>
          <p:cNvPr id="10" name="Text: Маржа 7,3% вместо 21,6%"/>
          <p:cNvSpPr txBox="1"/>
          <p:nvPr/>
        </p:nvSpPr>
        <p:spPr>
          <a:xfrm>
            <a:off x="6381750" y="1971000"/>
            <a:ext cx="1879501" cy="1981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spc="-4" dirty="0">
                <a:solidFill>
                  <a:srgbClr val="FBBC04"/>
                </a:solidFill>
                <a:latin typeface="Segoe UI"/>
                <a:ea typeface="Segoe UI"/>
                <a:cs typeface="Segoe UI"/>
              </a:rPr>
              <a:t>Маржа 7,3% вместо 21,6%</a:t>
            </a:r>
            <a:endParaRPr lang="en-US" sz="1200" dirty="0"/>
          </a:p>
        </p:txBody>
      </p:sp>
      <p:sp>
        <p:nvSpPr>
          <p:cNvPr id="11" name="Text: SUSH-02 · Сушилка для белья"/>
          <p:cNvSpPr txBox="1"/>
          <p:nvPr/>
        </p:nvSpPr>
        <p:spPr>
          <a:xfrm>
            <a:off x="6381750" y="2285881"/>
            <a:ext cx="3003451" cy="2590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spc="-4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SUSH-02 · Сушилка для белья</a:t>
            </a:r>
            <a:endParaRPr lang="en-US" sz="1700" dirty="0"/>
          </a:p>
        </p:txBody>
      </p:sp>
      <p:sp>
        <p:nvSpPr>
          <p:cNvPr id="12" name="Text: 9 возвратов из 38 продаж, обратная логис"/>
          <p:cNvSpPr txBox="1"/>
          <p:nvPr/>
        </p:nvSpPr>
        <p:spPr>
          <a:xfrm>
            <a:off x="6381750" y="2621161"/>
            <a:ext cx="4667250" cy="44192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-4"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9 возвратов из 38 продаж, обратная логистика 5 640 ₽. При скидке</a:t>
            </a:r>
            <a:br>
              <a:rPr lang="en-US" sz="1200"/>
            </a:br>
            <a:r>
              <a:rPr lang="en-US" sz="1200" spc="-4"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10% позиция уходит в минус: порог - 2 880 ₽.</a:t>
            </a:r>
            <a:endParaRPr lang="en-US" sz="1200" dirty="0"/>
          </a:p>
        </p:txBody>
      </p:sp>
      <p:sp>
        <p:nvSpPr>
          <p:cNvPr id="13" name="Text: Итоги III квартала 2026"/>
          <p:cNvSpPr txBox="1"/>
          <p:nvPr/>
        </p:nvSpPr>
        <p:spPr>
          <a:xfrm>
            <a:off x="901700" y="6292850"/>
            <a:ext cx="1195784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spc="-4"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Итоги III квартала 2026</a:t>
            </a:r>
            <a:endParaRPr lang="en-US" sz="900" dirty="0"/>
          </a:p>
        </p:txBody>
      </p:sp>
      <p:sp>
        <p:nvSpPr>
          <p:cNvPr id="14" name="Ellipse"/>
          <p:cNvSpPr/>
          <p:nvPr/>
        </p:nvSpPr>
        <p:spPr>
          <a:xfrm>
            <a:off x="762000" y="6359525"/>
            <a:ext cx="63500" cy="6350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</p:sp>
      <p:sp>
        <p:nvSpPr>
          <p:cNvPr id="15" name="Text: 6 / 10"/>
          <p:cNvSpPr txBox="1"/>
          <p:nvPr/>
        </p:nvSpPr>
        <p:spPr>
          <a:xfrm>
            <a:off x="11140976" y="6292850"/>
            <a:ext cx="289024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spc="-4"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762000" y="635000"/>
            <a:ext cx="531813" cy="254000"/>
          </a:xfrm>
          <a:prstGeom prst="roundRect">
            <a:avLst>
              <a:gd name="adj" fmla="val 50000"/>
            </a:avLst>
          </a:prstGeom>
          <a:solidFill>
            <a:srgbClr val="FBBC04"/>
          </a:solidFill>
          <a:ln>
            <a:noFill/>
          </a:ln>
        </p:spPr>
      </p:sp>
      <p:sp>
        <p:nvSpPr>
          <p:cNvPr id="3" name="Text: Риски"/>
          <p:cNvSpPr txBox="1"/>
          <p:nvPr/>
        </p:nvSpPr>
        <p:spPr>
          <a:xfrm>
            <a:off x="876300" y="673100"/>
            <a:ext cx="303213" cy="152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spc="32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Риски</a:t>
            </a:r>
            <a:endParaRPr lang="en-US" sz="800" dirty="0"/>
          </a:p>
        </p:txBody>
      </p:sp>
      <p:sp>
        <p:nvSpPr>
          <p:cNvPr id="4" name="Text: Что может ухудшить цифры в IV квартале"/>
          <p:cNvSpPr txBox="1"/>
          <p:nvPr/>
        </p:nvSpPr>
        <p:spPr>
          <a:xfrm>
            <a:off x="762000" y="1126490"/>
            <a:ext cx="6861473" cy="391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spc="-42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Что может ухудшить цифры в IV квартале</a:t>
            </a:r>
            <a:endParaRPr lang="en-US" sz="2800" dirty="0"/>
          </a:p>
        </p:txBody>
      </p:sp>
      <p:sp>
        <p:nvSpPr>
          <p:cNvPr id="5" name="Rounded Rectangle"/>
          <p:cNvSpPr/>
          <p:nvPr/>
        </p:nvSpPr>
        <p:spPr>
          <a:xfrm>
            <a:off x="762000" y="1826220"/>
            <a:ext cx="88900" cy="88900"/>
          </a:xfrm>
          <a:prstGeom prst="roundRect">
            <a:avLst>
              <a:gd name="adj" fmla="val 28571"/>
            </a:avLst>
          </a:prstGeom>
          <a:solidFill>
            <a:srgbClr val="FBBC04"/>
          </a:solidFill>
          <a:ln>
            <a:noFill/>
          </a:ln>
        </p:spPr>
      </p:sp>
      <p:sp>
        <p:nvSpPr>
          <p:cNvPr id="6" name="Text: Рост доли возвратов: уже 6,7% по магазин"/>
          <p:cNvSpPr txBox="1"/>
          <p:nvPr/>
        </p:nvSpPr>
        <p:spPr>
          <a:xfrm>
            <a:off x="1003300" y="1721445"/>
            <a:ext cx="9736336" cy="2762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spc="-4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Рост доли возвратов: уже 6,7% по магазину и выше 20% по двум позициям. </a:t>
            </a:r>
            <a:r>
              <a:rPr lang="en-US" sz="1500" spc="-4"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Каждый возврат - вторая доставка.</a:t>
            </a:r>
            <a:endParaRPr lang="en-US" sz="1500" dirty="0"/>
          </a:p>
        </p:txBody>
      </p:sp>
      <p:sp>
        <p:nvSpPr>
          <p:cNvPr id="7" name="Rounded Rectangle"/>
          <p:cNvSpPr/>
          <p:nvPr/>
        </p:nvSpPr>
        <p:spPr>
          <a:xfrm>
            <a:off x="762000" y="2280245"/>
            <a:ext cx="88900" cy="88900"/>
          </a:xfrm>
          <a:prstGeom prst="roundRect">
            <a:avLst>
              <a:gd name="adj" fmla="val 28571"/>
            </a:avLst>
          </a:prstGeom>
          <a:solidFill>
            <a:srgbClr val="FBBC04"/>
          </a:solidFill>
          <a:ln>
            <a:noFill/>
          </a:ln>
        </p:spPr>
      </p:sp>
      <p:sp>
        <p:nvSpPr>
          <p:cNvPr id="8" name="Text: Удержания без расшифровки: 6 000 ₽ у трё"/>
          <p:cNvSpPr txBox="1"/>
          <p:nvPr/>
        </p:nvSpPr>
        <p:spPr>
          <a:xfrm>
            <a:off x="1003300" y="2175470"/>
            <a:ext cx="8605341" cy="2762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spc="-4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Удержания без расшифровки: 6 000 ₽ у трёх позиций. </a:t>
            </a:r>
            <a:r>
              <a:rPr lang="en-US" sz="1500" spc="-4"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Пока причина неизвестна, риск повторится.</a:t>
            </a:r>
            <a:endParaRPr lang="en-US" sz="1500" dirty="0"/>
          </a:p>
        </p:txBody>
      </p:sp>
      <p:sp>
        <p:nvSpPr>
          <p:cNvPr id="9" name="Rounded Rectangle"/>
          <p:cNvSpPr/>
          <p:nvPr/>
        </p:nvSpPr>
        <p:spPr>
          <a:xfrm>
            <a:off x="762000" y="2734270"/>
            <a:ext cx="88900" cy="88900"/>
          </a:xfrm>
          <a:prstGeom prst="roundRect">
            <a:avLst>
              <a:gd name="adj" fmla="val 28571"/>
            </a:avLst>
          </a:prstGeom>
          <a:solidFill>
            <a:srgbClr val="FBBC04"/>
          </a:solidFill>
          <a:ln>
            <a:noFill/>
          </a:ln>
        </p:spPr>
      </p:sp>
      <p:sp>
        <p:nvSpPr>
          <p:cNvPr id="10" name="Text: Тариф логистики зависит от габаритов: ро"/>
          <p:cNvSpPr txBox="1"/>
          <p:nvPr/>
        </p:nvSpPr>
        <p:spPr>
          <a:xfrm>
            <a:off x="1003300" y="2629495"/>
            <a:ext cx="7911604" cy="2762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spc="-4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Тариф логистики зависит от габаритов: рост веса упаковки. </a:t>
            </a:r>
            <a:r>
              <a:rPr lang="en-US" sz="1500" spc="-4"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Считаем по текущим тарифам.</a:t>
            </a:r>
            <a:endParaRPr lang="en-US" sz="1500" dirty="0"/>
          </a:p>
        </p:txBody>
      </p:sp>
      <p:sp>
        <p:nvSpPr>
          <p:cNvPr id="11" name="Rounded Rectangle"/>
          <p:cNvSpPr/>
          <p:nvPr/>
        </p:nvSpPr>
        <p:spPr>
          <a:xfrm>
            <a:off x="762000" y="3188295"/>
            <a:ext cx="88900" cy="88900"/>
          </a:xfrm>
          <a:prstGeom prst="roundRect">
            <a:avLst>
              <a:gd name="adj" fmla="val 28571"/>
            </a:avLst>
          </a:prstGeom>
          <a:solidFill>
            <a:srgbClr val="FBBC04"/>
          </a:solidFill>
          <a:ln>
            <a:noFill/>
          </a:ln>
        </p:spPr>
      </p:sp>
      <p:sp>
        <p:nvSpPr>
          <p:cNvPr id="12" name="Text: Реклама вышла на 5,5% выручки при норме "/>
          <p:cNvSpPr txBox="1"/>
          <p:nvPr/>
        </p:nvSpPr>
        <p:spPr>
          <a:xfrm>
            <a:off x="1003300" y="3083520"/>
            <a:ext cx="7284839" cy="2762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spc="-4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Реклама вышла на 5,5% выручки при норме 4%. </a:t>
            </a:r>
            <a:r>
              <a:rPr lang="en-US" sz="1500" spc="-4"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Бюджет нужно перераспределить.</a:t>
            </a:r>
            <a:endParaRPr lang="en-US" sz="1500" dirty="0"/>
          </a:p>
        </p:txBody>
      </p:sp>
      <p:sp>
        <p:nvSpPr>
          <p:cNvPr id="13" name="Text: Итоги III квартала 2026"/>
          <p:cNvSpPr txBox="1"/>
          <p:nvPr/>
        </p:nvSpPr>
        <p:spPr>
          <a:xfrm>
            <a:off x="901700" y="6292850"/>
            <a:ext cx="1195784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spc="-4"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Итоги III квартала 2026</a:t>
            </a:r>
            <a:endParaRPr lang="en-US" sz="900" dirty="0"/>
          </a:p>
        </p:txBody>
      </p:sp>
      <p:sp>
        <p:nvSpPr>
          <p:cNvPr id="14" name="Ellipse"/>
          <p:cNvSpPr/>
          <p:nvPr/>
        </p:nvSpPr>
        <p:spPr>
          <a:xfrm>
            <a:off x="762000" y="6359525"/>
            <a:ext cx="63500" cy="6350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</p:sp>
      <p:sp>
        <p:nvSpPr>
          <p:cNvPr id="15" name="Text: 7 / 10"/>
          <p:cNvSpPr txBox="1"/>
          <p:nvPr/>
        </p:nvSpPr>
        <p:spPr>
          <a:xfrm>
            <a:off x="11140976" y="6292850"/>
            <a:ext cx="289024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spc="-4"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762000" y="635000"/>
            <a:ext cx="1214239" cy="25400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</p:sp>
      <p:sp>
        <p:nvSpPr>
          <p:cNvPr id="3" name="Text: План на IV квартал"/>
          <p:cNvSpPr txBox="1"/>
          <p:nvPr/>
        </p:nvSpPr>
        <p:spPr>
          <a:xfrm>
            <a:off x="876300" y="673100"/>
            <a:ext cx="985639" cy="152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spc="32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План на IV квартал</a:t>
            </a:r>
            <a:endParaRPr lang="en-US" sz="800" dirty="0"/>
          </a:p>
        </p:txBody>
      </p:sp>
      <p:sp>
        <p:nvSpPr>
          <p:cNvPr id="4" name="Text: Четыре шага до конца года"/>
          <p:cNvSpPr txBox="1"/>
          <p:nvPr/>
        </p:nvSpPr>
        <p:spPr>
          <a:xfrm>
            <a:off x="762000" y="1126490"/>
            <a:ext cx="4477742" cy="391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spc="-42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Четыре шага до конца года</a:t>
            </a:r>
            <a:endParaRPr lang="en-US" sz="2800" dirty="0"/>
          </a:p>
        </p:txBody>
      </p:sp>
      <p:sp>
        <p:nvSpPr>
          <p:cNvPr id="5" name="Rounded Rectangle"/>
          <p:cNvSpPr/>
          <p:nvPr/>
        </p:nvSpPr>
        <p:spPr>
          <a:xfrm>
            <a:off x="762000" y="1737320"/>
            <a:ext cx="355600" cy="355600"/>
          </a:xfrm>
          <a:prstGeom prst="roundRect">
            <a:avLst>
              <a:gd name="adj" fmla="val 28571"/>
            </a:avLst>
          </a:prstGeom>
          <a:solidFill>
            <a:srgbClr val="1A73E8"/>
          </a:solidFill>
          <a:ln>
            <a:noFill/>
          </a:ln>
        </p:spPr>
      </p:sp>
      <p:sp>
        <p:nvSpPr>
          <p:cNvPr id="6" name="Text: 1"/>
          <p:cNvSpPr txBox="1"/>
          <p:nvPr/>
        </p:nvSpPr>
        <p:spPr>
          <a:xfrm>
            <a:off x="894159" y="1778595"/>
            <a:ext cx="91182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spc="-4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  <a:endParaRPr lang="en-US" sz="1300" dirty="0"/>
          </a:p>
        </p:txBody>
      </p:sp>
      <p:sp>
        <p:nvSpPr>
          <p:cNvPr id="7" name="Text: Снять POLK-08 с продвижения"/>
          <p:cNvSpPr txBox="1"/>
          <p:nvPr/>
        </p:nvSpPr>
        <p:spPr>
          <a:xfrm>
            <a:off x="1295400" y="1718270"/>
            <a:ext cx="2748558" cy="2857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spc="-4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Снять POLK-08 с продвижения</a:t>
            </a:r>
            <a:endParaRPr lang="en-US" sz="1500" dirty="0"/>
          </a:p>
        </p:txBody>
      </p:sp>
      <p:sp>
        <p:nvSpPr>
          <p:cNvPr id="8" name="Text: До 10 октября · маркетинг · смотрим прод"/>
          <p:cNvSpPr txBox="1"/>
          <p:nvPr/>
        </p:nvSpPr>
        <p:spPr>
          <a:xfrm>
            <a:off x="1295400" y="2049740"/>
            <a:ext cx="5010845" cy="2209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-4"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До 10 октября · маркетинг · смотрим продажи без рекламы две недели.</a:t>
            </a:r>
            <a:endParaRPr lang="en-US" sz="1200" dirty="0"/>
          </a:p>
        </p:txBody>
      </p:sp>
      <p:sp>
        <p:nvSpPr>
          <p:cNvPr id="9" name="Rounded Rectangle"/>
          <p:cNvSpPr/>
          <p:nvPr/>
        </p:nvSpPr>
        <p:spPr>
          <a:xfrm>
            <a:off x="762000" y="2447230"/>
            <a:ext cx="355600" cy="355600"/>
          </a:xfrm>
          <a:prstGeom prst="roundRect">
            <a:avLst>
              <a:gd name="adj" fmla="val 28571"/>
            </a:avLst>
          </a:prstGeom>
          <a:solidFill>
            <a:srgbClr val="1A73E8"/>
          </a:solidFill>
          <a:ln>
            <a:noFill/>
          </a:ln>
        </p:spPr>
      </p:sp>
      <p:sp>
        <p:nvSpPr>
          <p:cNvPr id="10" name="Text: 2"/>
          <p:cNvSpPr txBox="1"/>
          <p:nvPr/>
        </p:nvSpPr>
        <p:spPr>
          <a:xfrm>
            <a:off x="894159" y="2488505"/>
            <a:ext cx="91182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spc="-4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  <a:endParaRPr lang="en-US" sz="1300" dirty="0"/>
          </a:p>
        </p:txBody>
      </p:sp>
      <p:sp>
        <p:nvSpPr>
          <p:cNvPr id="11" name="Text: Разобрать причины возвратов SUSH-02"/>
          <p:cNvSpPr txBox="1"/>
          <p:nvPr/>
        </p:nvSpPr>
        <p:spPr>
          <a:xfrm>
            <a:off x="1295400" y="2428180"/>
            <a:ext cx="3569990" cy="2857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spc="-4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Разобрать причины возвратов SUSH-02</a:t>
            </a:r>
            <a:endParaRPr lang="en-US" sz="1500" dirty="0"/>
          </a:p>
        </p:txBody>
      </p:sp>
      <p:sp>
        <p:nvSpPr>
          <p:cNvPr id="12" name="Text: До 20 октября · контент · карточка, упак"/>
          <p:cNvSpPr txBox="1"/>
          <p:nvPr/>
        </p:nvSpPr>
        <p:spPr>
          <a:xfrm>
            <a:off x="1295400" y="2759650"/>
            <a:ext cx="3827363" cy="2209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-4"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До 20 октября · контент · карточка, упаковка, размеры.</a:t>
            </a:r>
            <a:endParaRPr lang="en-US" sz="1200" dirty="0"/>
          </a:p>
        </p:txBody>
      </p:sp>
      <p:sp>
        <p:nvSpPr>
          <p:cNvPr id="13" name="Rounded Rectangle"/>
          <p:cNvSpPr/>
          <p:nvPr/>
        </p:nvSpPr>
        <p:spPr>
          <a:xfrm>
            <a:off x="762000" y="3157141"/>
            <a:ext cx="355600" cy="355600"/>
          </a:xfrm>
          <a:prstGeom prst="roundRect">
            <a:avLst>
              <a:gd name="adj" fmla="val 28571"/>
            </a:avLst>
          </a:prstGeom>
          <a:solidFill>
            <a:srgbClr val="1A73E8"/>
          </a:solidFill>
          <a:ln>
            <a:noFill/>
          </a:ln>
        </p:spPr>
      </p:sp>
      <p:sp>
        <p:nvSpPr>
          <p:cNvPr id="14" name="Text: 3"/>
          <p:cNvSpPr txBox="1"/>
          <p:nvPr/>
        </p:nvSpPr>
        <p:spPr>
          <a:xfrm>
            <a:off x="894159" y="3198416"/>
            <a:ext cx="91182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spc="-4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  <a:endParaRPr lang="en-US" sz="1300" dirty="0"/>
          </a:p>
        </p:txBody>
      </p:sp>
      <p:sp>
        <p:nvSpPr>
          <p:cNvPr id="15" name="Text: Запросить детализацию удержаний"/>
          <p:cNvSpPr txBox="1"/>
          <p:nvPr/>
        </p:nvSpPr>
        <p:spPr>
          <a:xfrm>
            <a:off x="1295400" y="3138091"/>
            <a:ext cx="3220541" cy="2857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spc="-4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Запросить детализацию удержаний</a:t>
            </a:r>
            <a:endParaRPr lang="en-US" sz="1500" dirty="0"/>
          </a:p>
        </p:txBody>
      </p:sp>
      <p:sp>
        <p:nvSpPr>
          <p:cNvPr id="16" name="Text: До 15 октября · финансы · 6 000 ₽ у трёх"/>
          <p:cNvSpPr txBox="1"/>
          <p:nvPr/>
        </p:nvSpPr>
        <p:spPr>
          <a:xfrm>
            <a:off x="1295400" y="3469561"/>
            <a:ext cx="3465116" cy="2209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-4"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До 15 октября · финансы · 6 000 ₽ у трёх позиций.</a:t>
            </a:r>
            <a:endParaRPr lang="en-US" sz="1200" dirty="0"/>
          </a:p>
        </p:txBody>
      </p:sp>
      <p:sp>
        <p:nvSpPr>
          <p:cNvPr id="17" name="Rounded Rectangle"/>
          <p:cNvSpPr/>
          <p:nvPr/>
        </p:nvSpPr>
        <p:spPr>
          <a:xfrm>
            <a:off x="762000" y="3867051"/>
            <a:ext cx="355600" cy="355600"/>
          </a:xfrm>
          <a:prstGeom prst="roundRect">
            <a:avLst>
              <a:gd name="adj" fmla="val 28571"/>
            </a:avLst>
          </a:prstGeom>
          <a:solidFill>
            <a:srgbClr val="1A73E8"/>
          </a:solidFill>
          <a:ln>
            <a:noFill/>
          </a:ln>
        </p:spPr>
      </p:sp>
      <p:sp>
        <p:nvSpPr>
          <p:cNvPr id="18" name="Text: 4"/>
          <p:cNvSpPr txBox="1"/>
          <p:nvPr/>
        </p:nvSpPr>
        <p:spPr>
          <a:xfrm>
            <a:off x="894159" y="3908326"/>
            <a:ext cx="91182" cy="2476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spc="-4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  <a:endParaRPr lang="en-US" sz="1300" dirty="0"/>
          </a:p>
        </p:txBody>
      </p:sp>
      <p:sp>
        <p:nvSpPr>
          <p:cNvPr id="19" name="Text: Пересчитать маржу после правок"/>
          <p:cNvSpPr txBox="1"/>
          <p:nvPr/>
        </p:nvSpPr>
        <p:spPr>
          <a:xfrm>
            <a:off x="1295400" y="3848001"/>
            <a:ext cx="3045321" cy="2857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spc="-4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Пересчитать маржу после правок</a:t>
            </a:r>
            <a:endParaRPr lang="en-US" sz="1500" dirty="0"/>
          </a:p>
        </p:txBody>
      </p:sp>
      <p:sp>
        <p:nvSpPr>
          <p:cNvPr id="20" name="Text: До 15 ноября · аналитика · сравнить с те"/>
          <p:cNvSpPr txBox="1"/>
          <p:nvPr/>
        </p:nvSpPr>
        <p:spPr>
          <a:xfrm>
            <a:off x="1295400" y="4179471"/>
            <a:ext cx="4010323" cy="22098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7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spc="-4"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До 15 ноября · аналитика · сравнить с текущим расчётом.</a:t>
            </a:r>
            <a:endParaRPr lang="en-US" sz="1200" dirty="0"/>
          </a:p>
        </p:txBody>
      </p:sp>
      <p:sp>
        <p:nvSpPr>
          <p:cNvPr id="21" name="Text: Итоги III квартала 2026"/>
          <p:cNvSpPr txBox="1"/>
          <p:nvPr/>
        </p:nvSpPr>
        <p:spPr>
          <a:xfrm>
            <a:off x="901700" y="6292850"/>
            <a:ext cx="1195784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spc="-4"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Итоги III квартала 2026</a:t>
            </a:r>
            <a:endParaRPr lang="en-US" sz="900" dirty="0"/>
          </a:p>
        </p:txBody>
      </p:sp>
      <p:sp>
        <p:nvSpPr>
          <p:cNvPr id="22" name="Ellipse"/>
          <p:cNvSpPr/>
          <p:nvPr/>
        </p:nvSpPr>
        <p:spPr>
          <a:xfrm>
            <a:off x="762000" y="6359525"/>
            <a:ext cx="63500" cy="6350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</p:sp>
      <p:sp>
        <p:nvSpPr>
          <p:cNvPr id="23" name="Text: 8 / 10"/>
          <p:cNvSpPr txBox="1"/>
          <p:nvPr/>
        </p:nvSpPr>
        <p:spPr>
          <a:xfrm>
            <a:off x="11140976" y="6292850"/>
            <a:ext cx="289024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spc="-4"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762000" y="635000"/>
            <a:ext cx="1065709" cy="254000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</p:spPr>
      </p:sp>
      <p:sp>
        <p:nvSpPr>
          <p:cNvPr id="3" name="Text: Нужно решение"/>
          <p:cNvSpPr txBox="1"/>
          <p:nvPr/>
        </p:nvSpPr>
        <p:spPr>
          <a:xfrm>
            <a:off x="876300" y="673100"/>
            <a:ext cx="837109" cy="152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spc="32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Нужно решение</a:t>
            </a:r>
            <a:endParaRPr lang="en-US" sz="800" dirty="0"/>
          </a:p>
        </p:txBody>
      </p:sp>
      <p:sp>
        <p:nvSpPr>
          <p:cNvPr id="4" name="Text: Что требуется от руководства"/>
          <p:cNvSpPr txBox="1"/>
          <p:nvPr/>
        </p:nvSpPr>
        <p:spPr>
          <a:xfrm>
            <a:off x="762000" y="1126490"/>
            <a:ext cx="4848027" cy="39116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3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spc="-42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Что требуется от руководства</a:t>
            </a:r>
            <a:endParaRPr lang="en-US" sz="2800" dirty="0"/>
          </a:p>
        </p:txBody>
      </p:sp>
      <p:sp>
        <p:nvSpPr>
          <p:cNvPr id="5" name="Ellipse"/>
          <p:cNvSpPr/>
          <p:nvPr/>
        </p:nvSpPr>
        <p:spPr>
          <a:xfrm>
            <a:off x="762000" y="1838920"/>
            <a:ext cx="88900" cy="8890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</p:sp>
      <p:sp>
        <p:nvSpPr>
          <p:cNvPr id="6" name="Text: Согласовать тест цены +6% на две позиции"/>
          <p:cNvSpPr txBox="1"/>
          <p:nvPr/>
        </p:nvSpPr>
        <p:spPr>
          <a:xfrm>
            <a:off x="1003300" y="1721445"/>
            <a:ext cx="6935093" cy="2762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spc="-4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Согласовать тест цены +6% на две позиции: это выводит их в норму по марже.</a:t>
            </a:r>
            <a:endParaRPr lang="en-US" sz="1500" dirty="0"/>
          </a:p>
        </p:txBody>
      </p:sp>
      <p:sp>
        <p:nvSpPr>
          <p:cNvPr id="7" name="Ellipse"/>
          <p:cNvSpPr/>
          <p:nvPr/>
        </p:nvSpPr>
        <p:spPr>
          <a:xfrm>
            <a:off x="762000" y="2292945"/>
            <a:ext cx="88900" cy="8890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</p:sp>
      <p:sp>
        <p:nvSpPr>
          <p:cNvPr id="8" name="Text: Дать доступ к детализации удержаний площ"/>
          <p:cNvSpPr txBox="1"/>
          <p:nvPr/>
        </p:nvSpPr>
        <p:spPr>
          <a:xfrm>
            <a:off x="1003300" y="2175470"/>
            <a:ext cx="7546479" cy="2762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spc="-4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Дать доступ к детализации удержаний площадки: без неё причина штрафов не видна.</a:t>
            </a:r>
            <a:endParaRPr lang="en-US" sz="1500" dirty="0"/>
          </a:p>
        </p:txBody>
      </p:sp>
      <p:sp>
        <p:nvSpPr>
          <p:cNvPr id="9" name="Ellipse"/>
          <p:cNvSpPr/>
          <p:nvPr/>
        </p:nvSpPr>
        <p:spPr>
          <a:xfrm>
            <a:off x="762000" y="2746970"/>
            <a:ext cx="88900" cy="8890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</p:sp>
      <p:sp>
        <p:nvSpPr>
          <p:cNvPr id="10" name="Text: Определить приоритет ассортимента: расши"/>
          <p:cNvSpPr txBox="1"/>
          <p:nvPr/>
        </p:nvSpPr>
        <p:spPr>
          <a:xfrm>
            <a:off x="1003300" y="2629495"/>
            <a:ext cx="7274322" cy="27622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spc="-4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Определить приоритет ассортимента: расширять хранение или подтягивать кухню.</a:t>
            </a:r>
            <a:endParaRPr lang="en-US" sz="1500" dirty="0"/>
          </a:p>
        </p:txBody>
      </p:sp>
      <p:sp>
        <p:nvSpPr>
          <p:cNvPr id="11" name="Text: Итоги III квартала 2026"/>
          <p:cNvSpPr txBox="1"/>
          <p:nvPr/>
        </p:nvSpPr>
        <p:spPr>
          <a:xfrm>
            <a:off x="901700" y="6292850"/>
            <a:ext cx="1195784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spc="-4"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Итоги III квартала 2026</a:t>
            </a:r>
            <a:endParaRPr lang="en-US" sz="900" dirty="0"/>
          </a:p>
        </p:txBody>
      </p:sp>
      <p:sp>
        <p:nvSpPr>
          <p:cNvPr id="12" name="Ellipse"/>
          <p:cNvSpPr/>
          <p:nvPr/>
        </p:nvSpPr>
        <p:spPr>
          <a:xfrm>
            <a:off x="762000" y="6359525"/>
            <a:ext cx="63500" cy="6350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</p:sp>
      <p:sp>
        <p:nvSpPr>
          <p:cNvPr id="13" name="Text: 9 / 10"/>
          <p:cNvSpPr txBox="1"/>
          <p:nvPr/>
        </p:nvSpPr>
        <p:spPr>
          <a:xfrm>
            <a:off x="11140976" y="6292850"/>
            <a:ext cx="289024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spc="-4"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/>
          <p:cNvSpPr/>
          <p:nvPr/>
        </p:nvSpPr>
        <p:spPr>
          <a:xfrm>
            <a:off x="762000" y="1952030"/>
            <a:ext cx="629047" cy="25400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</p:spPr>
      </p:sp>
      <p:sp>
        <p:nvSpPr>
          <p:cNvPr id="3" name="Text: Дальше"/>
          <p:cNvSpPr txBox="1"/>
          <p:nvPr/>
        </p:nvSpPr>
        <p:spPr>
          <a:xfrm>
            <a:off x="876300" y="1990130"/>
            <a:ext cx="400447" cy="152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spc="32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Дальше</a:t>
            </a:r>
            <a:endParaRPr lang="en-US" sz="800" dirty="0"/>
          </a:p>
        </p:txBody>
      </p:sp>
      <p:sp>
        <p:nvSpPr>
          <p:cNvPr id="4" name="Text: Пересчёт через месяц покажет результат"/>
          <p:cNvSpPr txBox="1"/>
          <p:nvPr/>
        </p:nvSpPr>
        <p:spPr>
          <a:xfrm>
            <a:off x="762000" y="2519759"/>
            <a:ext cx="8519517" cy="1760141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69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spc="-132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Пересчёт через месяц</a:t>
            </a:r>
            <a:br>
              <a:rPr lang="en-US" sz="6600"/>
            </a:br>
            <a:r>
              <a:rPr lang="en-US" sz="6600" b="1" spc="-132" dirty="0">
                <a:solidFill>
                  <a:srgbClr val="202124"/>
                </a:solidFill>
                <a:latin typeface="Segoe UI"/>
                <a:ea typeface="Segoe UI"/>
                <a:cs typeface="Segoe UI"/>
              </a:rPr>
              <a:t>покажет результат</a:t>
            </a:r>
            <a:endParaRPr lang="en-US" sz="6600" dirty="0"/>
          </a:p>
        </p:txBody>
      </p:sp>
      <p:sp>
        <p:nvSpPr>
          <p:cNvPr id="5" name="Text: Расчёт сделан на демонстрационных данных"/>
          <p:cNvSpPr txBox="1"/>
          <p:nvPr/>
        </p:nvSpPr>
        <p:spPr>
          <a:xfrm>
            <a:off x="762000" y="4353520"/>
            <a:ext cx="7946628" cy="533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spc="-4"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Расчёт сделан на демонстрационных данных. На ваших цифрах структура та же: цифры квартала,</a:t>
            </a:r>
            <a:br>
              <a:rPr lang="en-US" sz="1400"/>
            </a:br>
            <a:r>
              <a:rPr lang="en-US" sz="1400" spc="-4"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проблемные позиции, риски и план.</a:t>
            </a:r>
            <a:endParaRPr lang="en-US" sz="1400" dirty="0"/>
          </a:p>
        </p:txBody>
      </p:sp>
      <p:sp>
        <p:nvSpPr>
          <p:cNvPr id="6" name="Text: Итоги III квартала 2026"/>
          <p:cNvSpPr txBox="1"/>
          <p:nvPr/>
        </p:nvSpPr>
        <p:spPr>
          <a:xfrm>
            <a:off x="901700" y="6292850"/>
            <a:ext cx="1195784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spc="-4"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Итоги III квартала 2026</a:t>
            </a:r>
            <a:endParaRPr lang="en-US" sz="900" dirty="0"/>
          </a:p>
        </p:txBody>
      </p:sp>
      <p:sp>
        <p:nvSpPr>
          <p:cNvPr id="7" name="Ellipse"/>
          <p:cNvSpPr/>
          <p:nvPr/>
        </p:nvSpPr>
        <p:spPr>
          <a:xfrm>
            <a:off x="762000" y="6359525"/>
            <a:ext cx="63500" cy="6350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</p:sp>
      <p:sp>
        <p:nvSpPr>
          <p:cNvPr id="8" name="Text: 10 / 10"/>
          <p:cNvSpPr txBox="1"/>
          <p:nvPr/>
        </p:nvSpPr>
        <p:spPr>
          <a:xfrm>
            <a:off x="11079857" y="6292850"/>
            <a:ext cx="350143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spc="-4" dirty="0">
                <a:solidFill>
                  <a:srgbClr val="5F6368"/>
                </a:solidFill>
                <a:latin typeface="Segoe UI"/>
                <a:ea typeface="Segoe UI"/>
                <a:cs typeface="Segoe UI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